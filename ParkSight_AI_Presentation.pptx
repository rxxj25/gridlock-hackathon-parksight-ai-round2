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4754880" cy="6858000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4920" y="0"/>
            <a:ext cx="711403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84048"/>
            <a:ext cx="3931920" cy="292608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411479"/>
            <a:ext cx="37856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FLIPKART GRIDLOCK CHALLENGE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ParkSight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5968E"/>
                </a:solidFill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4CFD8"/>
                </a:solidFill>
              </a:rPr>
              <a:t>Parking-Induced Congestion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0440"/>
            <a:ext cx="3840480" cy="2286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</a:rPr>
              <a:t>Turn 298,450 illegal-parking records into
12 deployable enforcement beats — before
the traffic jam 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280160"/>
            <a:ext cx="2651760" cy="17830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42432" y="1481328"/>
            <a:ext cx="45720" cy="91440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1444751"/>
            <a:ext cx="2359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298K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965960"/>
            <a:ext cx="2359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Violations Analysed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280160"/>
            <a:ext cx="2651760" cy="17830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68512" y="1481328"/>
            <a:ext cx="45720" cy="91440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1444751"/>
            <a:ext cx="2359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3,969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1965960"/>
            <a:ext cx="2359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Urban Cells Scored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474720"/>
            <a:ext cx="2651760" cy="17830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42432" y="3675887"/>
            <a:ext cx="45720" cy="9144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3639312"/>
            <a:ext cx="2359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4160520"/>
            <a:ext cx="2359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Ranked Hotspots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3474720"/>
            <a:ext cx="2651760" cy="17830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68512" y="3675887"/>
            <a:ext cx="45720" cy="91440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3639312"/>
            <a:ext cx="2359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4160520"/>
            <a:ext cx="2359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Enforcement Beats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Bengaluru Metropolitan Area  ·  Nov 2023 – Apr 2024  ·  55 Police Stations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492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4756F"/>
                </a:solidFill>
              </a:rPr>
              <a:t>Parking Impact Index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3D4A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Bengaluru Grinds to a Halt — Every. Single.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11338560" cy="2286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6217920" cy="107899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54864" cy="107899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Traffic Congestion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Bengaluru loses ₹3,700 crore annually to traffic delays. Commuters waste
an average of 243 hours per year stuck in jams — among the world's worst.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6217920" cy="107899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54864" cy="107899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Illegal Parking — The Hidden 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5526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50.5% of all violations occur at junctions and crossings, directly
blocking traffic flow and reducing effective road capacity by up to 40%.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6217920" cy="107899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54864" cy="107899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Peak-Hour Paralysis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4398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39.6% of violations happen during morning &amp; evening rush hours
(8–11 AM and 5–9 PM), creating cascading congestion across arterials.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80"/>
            <a:ext cx="6217920" cy="107899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12080"/>
            <a:ext cx="54864" cy="107899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Reactive, Not Proactive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3270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Police respond to violations after congestion forms. No data-driven
tool exists to predict hotspots and pre-position enforcement units.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1645920"/>
            <a:ext cx="4663440" cy="4846320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40" y="1645920"/>
            <a:ext cx="4663440" cy="64008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87451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3D4A"/>
                </a:solidFill>
              </a:rPr>
              <a:t>The Scale of the Problem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2011680"/>
            <a:ext cx="420624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057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93D4A"/>
                </a:solidFill>
              </a:rPr>
              <a:t>298,450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4871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Parking violations in 5 months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081528"/>
            <a:ext cx="420624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3127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9B2D"/>
                </a:solidFill>
              </a:rPr>
              <a:t>50.5%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55701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Junction-linked (highest-risk) cases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4151376"/>
            <a:ext cx="420624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41970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968E"/>
                </a:solidFill>
              </a:rPr>
              <a:t>39.6%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62686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Cases during peak movement windows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5221224"/>
            <a:ext cx="420624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52669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157A8"/>
                </a:solidFill>
              </a:rPr>
              <a:t>3,969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56967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Congestion-prone micro-zones identified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Data source: Bengaluru Traffic Police violation records, anonymized | Period: Nov 2023 – Apr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8E"/>
                </a:solidFill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ParkSight AI: From Raw Violations to Deployable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338560" cy="2286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ParkSight AI ingests raw police violation records and transforms them into a ranked, evidence-based congestion map of Bengaluru. It doesn't just show where parking violations happen — it calculates where they hurt traffic most, and turns that intelligence into precise patrol beats.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57600" cy="175564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3657600" cy="50292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151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Smart Hotspot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160 micro-zones ranked by a transparent 7-factor Parking Impact Index — not just raw counts but weighted obstruction pressure.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7" y="2468880"/>
            <a:ext cx="3657600" cy="175564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2468880"/>
            <a:ext cx="3657600" cy="5029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26151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Multi-Layer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017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Three switchable map layers: Impact Score, Raw Volume, and Junction Exposure — all on a live Leaflet.js map of Bengaluru.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2468880"/>
            <a:ext cx="3657600" cy="175564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2468880"/>
            <a:ext cx="3657600" cy="5029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26151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Enforcement Beat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17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Auto-generated 12-beat patrol schedule with time windows, recommended actions, and one-click map focus for every beat.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3657600" cy="175564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3657600" cy="50292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535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Station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937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Ranked leaderboard of all 55 police stations by burden score, junction share, and arterial risk — for command-level deployment.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7" y="4389120"/>
            <a:ext cx="3657600" cy="175564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7" y="4389120"/>
            <a:ext cx="3657600" cy="50292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4535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Downloadable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937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One-click PDF brief and full CSV export — field-ready intelligence that works with or without a screen.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4389120"/>
            <a:ext cx="3657600" cy="175564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66175" y="4389120"/>
            <a:ext cx="3657600" cy="50292"/>
          </a:xfrm>
          <a:prstGeom prst="rect">
            <a:avLst/>
          </a:prstGeom>
          <a:solidFill>
            <a:srgbClr val="C9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7" y="4535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Transparent Methodology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7" y="4937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Every weight in the scoring formula is published on the dashboard. Judges and officers can audit exactly why a hotspot ranked.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Built entirely on open-source tools: Python · React · Leaflet.js · Chart.js · Tailwind 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9B2D"/>
                </a:solidFill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Four Steps: Raw Data → Deployable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97480" cy="438912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97480" cy="59436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02920" cy="50292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56F"/>
                </a:solidFill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Raw CSV
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260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298,450 violation records from Bengaluru Traffic Police (Nov 2023–Apr 2024). Each row includes GPS coordinates, vehicle type, violation type, date-time, police station, junction, and validation status.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32918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4756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8144" y="1554480"/>
            <a:ext cx="2697480" cy="438912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1554480"/>
            <a:ext cx="2697480" cy="59436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47872" y="1691640"/>
            <a:ext cx="502920" cy="50292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664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9B2D"/>
                </a:solidFill>
              </a:rPr>
              <a:t>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26771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220m Urban
Grid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9260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The city is divided into 220-metre micro-zones (0.002° cells). Every violation is mapped to its cell. 3,969 unique congestion-prone zones emerge across the metropolitan area.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2918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B2D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1554480"/>
            <a:ext cx="2697480" cy="438912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1554480"/>
            <a:ext cx="2697480" cy="59436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37376" y="1691640"/>
            <a:ext cx="502920" cy="50292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1664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3D4A"/>
                </a:solidFill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226771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Parking Impact
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29260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Each cell is scored 0–100 using 7 weighted factors: obstruction pressure (PCU×severity), raw density, junction exposure, arterial risk, peak recurrence, active-day persistence, and average severity.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32918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3D4A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2" y="1554480"/>
            <a:ext cx="2697480" cy="438912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17152" y="1554480"/>
            <a:ext cx="2697480" cy="59436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1691640"/>
            <a:ext cx="502920" cy="50292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1664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57A8"/>
                </a:solidFill>
              </a:rPr>
              <a:t>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26771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Enforcement
Beat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9260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The top hotspots are grouped by station, de-duplicated to ensure geographic spread, and assigned patrol time windows based on the cell's dominant violation hours. Output: 12 immediately deployable patrol beats.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053328"/>
            <a:ext cx="11338560" cy="6583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053328"/>
            <a:ext cx="64008" cy="658368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60899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9B2D"/>
                </a:solidFill>
              </a:rPr>
              <a:t>Impact Index: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6089904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100 × (0.34 weighted obstruction + 0.18 density + 0.15 junction exposure + 0.13 arterial risk + 0.10 peak share + 0.06 recurrence + 0.04 severity)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157A8"/>
                </a:solidFill>
              </a:rPr>
              <a:t>THE SCIENCE BEHIND THE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Parking Impact Index — A Transparent Congestion Proxy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CFD8"/>
                </a:solidFill>
              </a:rPr>
              <a:t>Weight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93D4A"/>
                </a:solidFill>
              </a:rPr>
              <a:t>34%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2029968"/>
            <a:ext cx="5303520" cy="2011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2029968"/>
            <a:ext cx="1803196" cy="201168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Weighted Obstruction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920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PCU × violation-severity weight. Accounts for the physical road space a vehicle blocks.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42032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E09B2D"/>
                </a:solidFill>
              </a:rPr>
              <a:t>18%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2651760"/>
            <a:ext cx="5303520" cy="2011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2651760"/>
            <a:ext cx="954633" cy="201168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5420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Violation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5420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Log-scaled case count per cell. Prevents outliers from dominating the ranking.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63824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4756F"/>
                </a:solidFill>
              </a:rPr>
              <a:t>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3273552"/>
            <a:ext cx="5303520" cy="2011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34440" y="3273552"/>
            <a:ext cx="795528" cy="201168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1638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Junction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3163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Share of cases at named junctions. Intersections bottleneck traffic exponentially.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85616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5968E"/>
                </a:solidFill>
              </a:rPr>
              <a:t>13%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3895344"/>
            <a:ext cx="5303520" cy="2011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4440" y="3895344"/>
            <a:ext cx="689457" cy="201168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7856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Arterial Obstruction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7856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Cases on main roads, double-parking, opposing-lane violations.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07408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6157A8"/>
                </a:solidFill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40" y="4517136"/>
            <a:ext cx="5303520" cy="2011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34440" y="4517136"/>
            <a:ext cx="530352" cy="201168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407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Peak-Hour 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44074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Fraction occurring 08–11 AM or 17–21 PM — when marginal impact is highest.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56A3A6"/>
                </a:solidFill>
              </a:rPr>
              <a:t>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440" y="5138928"/>
            <a:ext cx="5303520" cy="2011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34440" y="5138928"/>
            <a:ext cx="318211" cy="201168"/>
          </a:xfrm>
          <a:prstGeom prst="rect">
            <a:avLst/>
          </a:prstGeom>
          <a:solidFill>
            <a:srgbClr val="56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50292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Active-Day Recurrence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5029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Days with at least one violation. Rewards persistent patterns over one-off events.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50992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4CFD8"/>
                </a:solidFill>
              </a:rPr>
              <a:t>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" y="5760720"/>
            <a:ext cx="5303520" cy="20116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34440" y="5760720"/>
            <a:ext cx="212140" cy="201168"/>
          </a:xfrm>
          <a:prstGeom prst="rect">
            <a:avLst/>
          </a:prstGeom>
          <a:solidFill>
            <a:srgbClr val="C4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5650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Average Severity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56509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Mean violation-weight across the cell's case mix.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1508760"/>
            <a:ext cx="5029200" cy="516636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66560" y="1508760"/>
            <a:ext cx="5029200" cy="54864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1627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157A8"/>
                </a:solidFill>
              </a:rPr>
              <a:t>Congestion Multipliers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CFD8"/>
                </a:solidFill>
              </a:rPr>
              <a:t>Vehicle Type → PCU Weight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23591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Moped / Scooter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235915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09B2D"/>
                </a:solidFill>
              </a:rPr>
              <a:t>0.30–0.35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26883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Motorcycle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26883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09B2D"/>
                </a:solidFill>
              </a:rPr>
              <a:t>0.35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3017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Passenger Auto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301752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09B2D"/>
                </a:solidFill>
              </a:rPr>
              <a:t>0.75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34670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Car / Jeep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334670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09B2D"/>
                </a:solidFill>
              </a:rPr>
              <a:t>1.00–1.05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367588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Tempo / LGV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3675887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09B2D"/>
                </a:solidFill>
              </a:rPr>
              <a:t>1.50–1.70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40050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Bus (BMTC/KSRTC)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400507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09B2D"/>
                </a:solidFill>
              </a:rPr>
              <a:t>2.80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33425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HGV / Tanker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3342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09B2D"/>
                </a:solidFill>
              </a:rPr>
              <a:t>3.00–3.20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9440" y="4709160"/>
            <a:ext cx="4572000" cy="2286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CFD8"/>
                </a:solidFill>
              </a:rPr>
              <a:t>Violation Severity Weight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0" y="5138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Near Traffic Light / Zebra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1389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93D4A"/>
                </a:solidFill>
              </a:rPr>
              <a:t>1.85 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4498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Near Road Crossing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4498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93D4A"/>
                </a:solidFill>
              </a:rPr>
              <a:t>1.75 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Double Parking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57607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93D4A"/>
                </a:solidFill>
              </a:rPr>
              <a:t>1.65 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9440" y="6071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Main Road Parking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60716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93D4A"/>
                </a:solidFill>
              </a:rPr>
              <a:t>1.55 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63825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No Parking Zone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638251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93D4A"/>
                </a:solidFill>
              </a:rPr>
              <a:t>1.00 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Priority tiers: Critical ≥ 74  ·  High ≥ 60  ·  Watch ≥ 45  ·  Routine &lt; 45  — every threshold is auditable in the open-source codebase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8E"/>
                </a:solidFill>
              </a:rPr>
              <a:t>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ParkSight AI Dashboard — Everything on One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949440" cy="4297680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6949440" cy="54864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72768"/>
            <a:ext cx="1618488" cy="65836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3D4A"/>
                </a:solidFill>
              </a:rPr>
              <a:t>298K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836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Violations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1572768"/>
            <a:ext cx="1618488" cy="65836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160020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8E"/>
                </a:solidFill>
              </a:rPr>
              <a:t>3,969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8836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Cells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6" y="1572768"/>
            <a:ext cx="1618488" cy="65836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160020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9B2D"/>
                </a:solidFill>
              </a:rPr>
              <a:t>50.5%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6" y="18836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Junction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5584" y="1572768"/>
            <a:ext cx="1618488" cy="65836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7024" y="160020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157A8"/>
                </a:solidFill>
              </a:rP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18836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Critical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304288"/>
            <a:ext cx="6858000" cy="3429000"/>
          </a:xfrm>
          <a:prstGeom prst="rect">
            <a:avLst/>
          </a:prstGeom>
          <a:solidFill>
            <a:srgbClr val="1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3474720"/>
            <a:ext cx="164592" cy="164592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0" y="2926080"/>
            <a:ext cx="164592" cy="164592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3440" y="3749039"/>
            <a:ext cx="164592" cy="164592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00400" y="4389120"/>
            <a:ext cx="164592" cy="164592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77840" y="3291840"/>
            <a:ext cx="164592" cy="164592"/>
          </a:xfrm>
          <a:prstGeom prst="ellipse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11680" y="4023360"/>
            <a:ext cx="164592" cy="164592"/>
          </a:xfrm>
          <a:prstGeom prst="ellipse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0" y="4663440"/>
            <a:ext cx="164592" cy="164592"/>
          </a:xfrm>
          <a:prstGeom prst="ellipse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97680" y="5120640"/>
            <a:ext cx="164592" cy="164592"/>
          </a:xfrm>
          <a:prstGeom prst="ellipse">
            <a:avLst/>
          </a:prstGeom>
          <a:solidFill>
            <a:srgbClr val="C4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BTP051 Safina Plaza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4CFD8"/>
                </a:solidFill>
              </a:rPr>
              <a:t>Live Leaflet.js Map · Bengaluru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2103120"/>
            <a:ext cx="1115568" cy="25603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2130551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2103120"/>
            <a:ext cx="1115568" cy="25603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93392" y="2130551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2103120"/>
            <a:ext cx="1115568" cy="25603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2130551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Junction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1508760"/>
            <a:ext cx="4343400" cy="4297680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5240" y="1508760"/>
            <a:ext cx="4343400" cy="54864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99248" y="1572768"/>
            <a:ext cx="978408" cy="329184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1600200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50808" y="1572768"/>
            <a:ext cx="978408" cy="32918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0808" y="1600200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Hotspots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02367" y="1572768"/>
            <a:ext cx="978408" cy="32918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02367" y="1600200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Plan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53928" y="1572768"/>
            <a:ext cx="978408" cy="32918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53928" y="1600200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Method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79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Judge Brief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2304288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50% junction-linked · 40% peak-hour · dominant offence: WRONG PARKING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79" y="3108960"/>
            <a:ext cx="1920240" cy="74980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18119" y="31455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3D4A"/>
                </a:solidFill>
              </a:rPr>
              <a:t>6,523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19" y="34930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Violation 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3108960"/>
            <a:ext cx="1920240" cy="74980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19" y="31455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9B2D"/>
                </a:solidFill>
              </a:rPr>
              <a:t>60.1%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19" y="34930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Peak-hour recurrence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26679" y="3977639"/>
            <a:ext cx="1920240" cy="74980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19" y="401421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8E"/>
                </a:solidFill>
              </a:rPr>
              <a:t>83.8%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19" y="43616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Junction exposure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0" y="3977639"/>
            <a:ext cx="1920240" cy="74980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19" y="401421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157A8"/>
                </a:solidFill>
              </a:rPr>
              <a:t>151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19" y="43616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FD8"/>
                </a:solidFill>
              </a:rPr>
              <a:t>Active days in 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97880"/>
            <a:ext cx="2743200" cy="8046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8640" y="5897880"/>
            <a:ext cx="50292" cy="804672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59436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Heatmap Layers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Impact · Volume · Junction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38144" y="5897880"/>
            <a:ext cx="2743200" cy="8046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38144" y="5897880"/>
            <a:ext cx="50292" cy="80467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84448" y="59436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Station Filter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84448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Zoom any of 55 police stations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27648" y="5897880"/>
            <a:ext cx="2743200" cy="8046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27648" y="5897880"/>
            <a:ext cx="50292" cy="80467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73952" y="59436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Priority Filter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3952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Critical / High / Watch / Routine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17152" y="5897880"/>
            <a:ext cx="2743200" cy="8046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17152" y="5897880"/>
            <a:ext cx="50292" cy="804672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63456" y="59436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Export Reports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63456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CSV download &amp; PDF brief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React 18 · Vite · Leaflet.js · Leaflet.heat · Chart.js · Tailwind CSS · Python 3 · Open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3D4A"/>
                </a:solidFill>
              </a:rPr>
              <a:t>RANKED HOTSPOT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Where Illegal Parking Hurts Traffic Flow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577840" cy="1554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9436" cy="155448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19072"/>
            <a:ext cx="530352" cy="53035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00784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664207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BTP051 – Safina Plaza Junction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2996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Shivajinagar  ·  6,523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2340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3D4A"/>
                </a:solidFill>
              </a:rPr>
              <a:t>83.8% junction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664207"/>
            <a:ext cx="1024128" cy="6858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164592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77.5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01168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19" y="2670048"/>
            <a:ext cx="960120" cy="25603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0472" y="2697479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50592" y="2670048"/>
            <a:ext cx="1417320" cy="25603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2697479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Peak overlap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1554480"/>
            <a:ext cx="5577840" cy="1554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1554480"/>
            <a:ext cx="59436" cy="155448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28816" y="1719072"/>
            <a:ext cx="530352" cy="53035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1700784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1664207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MG Road – Central Bengaluru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02996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Shivajinagar  ·  5,792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2340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3D4A"/>
                </a:solidFill>
              </a:rPr>
              <a:t>100% junction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16767" y="1664207"/>
            <a:ext cx="1024128" cy="6858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16767" y="164592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77.0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7" y="201168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96328" y="2670048"/>
            <a:ext cx="960120" cy="25603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697479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670048"/>
            <a:ext cx="1417320" cy="25603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2697479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Peak overlap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46120"/>
            <a:ext cx="5577840" cy="1554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246120"/>
            <a:ext cx="59436" cy="155448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3410712"/>
            <a:ext cx="530352" cy="53035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392424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33558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Commercial Street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3721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Shivajinagar  ·  4,810 cases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19" y="4032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3D4A"/>
                </a:solidFill>
              </a:rPr>
              <a:t>76.2% junction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59" y="3355848"/>
            <a:ext cx="1024128" cy="6858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59" y="333756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74.5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59" y="370332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19" y="4361688"/>
            <a:ext cx="960120" cy="25603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90472" y="4389120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0592" y="4361688"/>
            <a:ext cx="1417320" cy="25603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23744" y="4389120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Peak overlap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3246120"/>
            <a:ext cx="5577840" cy="1554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27648" y="3246120"/>
            <a:ext cx="59436" cy="155448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28816" y="3410712"/>
            <a:ext cx="530352" cy="53035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28816" y="3392424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6328" y="33558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Jayanagar 4th Block Market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6328" y="3721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Jayanagar  ·  3,941 cases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4032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9B2D"/>
                </a:solidFill>
              </a:rPr>
              <a:t>64.5% junction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16767" y="3355848"/>
            <a:ext cx="1024128" cy="68580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16767" y="333756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68.2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16767" y="370332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96328" y="4361688"/>
            <a:ext cx="960120" cy="25603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4389120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361688"/>
            <a:ext cx="1417320" cy="25603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02752" y="4389120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Peak overlap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937760"/>
            <a:ext cx="5577840" cy="1554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4937760"/>
            <a:ext cx="59436" cy="155448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9808" y="5102352"/>
            <a:ext cx="530352" cy="53035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" y="5084064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17319" y="50474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Koramangala Inner Ring Road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17319" y="5413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Koramangala  ·  3,654 cases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7319" y="57241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9B2D"/>
                </a:solidFill>
              </a:rPr>
              <a:t>59.1% junction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59" y="5047488"/>
            <a:ext cx="1024128" cy="68580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59" y="502920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65.8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59" y="539496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17319" y="6053328"/>
            <a:ext cx="960120" cy="25603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90472" y="6080760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50592" y="6053328"/>
            <a:ext cx="1417320" cy="25603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23744" y="6080760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Peak overlap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27648" y="4937760"/>
            <a:ext cx="5577840" cy="1554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27648" y="4937760"/>
            <a:ext cx="59436" cy="155448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28816" y="5102352"/>
            <a:ext cx="530352" cy="53035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28816" y="5084064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96328" y="50474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Whitefield IT Corridor Entry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96328" y="5413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KR Puram  ·  2,870 cases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6328" y="57241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9B2D"/>
                </a:solidFill>
              </a:rPr>
              <a:t>55.3% arterial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716767" y="5047488"/>
            <a:ext cx="1024128" cy="68580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16767" y="502920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61.4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16767" y="539496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96328" y="6053328"/>
            <a:ext cx="960120" cy="25603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69480" y="6080760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0" y="6053328"/>
            <a:ext cx="1417320" cy="25603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02752" y="6080760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CFD8"/>
                </a:solidFill>
              </a:rPr>
              <a:t>Peak overlap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6400800"/>
            <a:ext cx="11338560" cy="329184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48640" y="6400800"/>
            <a:ext cx="59436" cy="329184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9808" y="643737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Top 6 hotspots alone account for 27,590 violation records and 89% junction exposure — a single enforcement sweep covers disproportionate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157A8"/>
                </a:solidFill>
              </a:rPr>
              <a:t>TARGETED ENFORCEMENT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12 Deployable Patrol Beats — Generated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338560" cy="36576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996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4996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499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4996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1499616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14996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01952"/>
            <a:ext cx="11338560" cy="356616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938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3D4A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19385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Safina Plaza Junction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Shivajinagar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09:00–12:00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1938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3D4A"/>
                </a:solidFill>
              </a:rPr>
              <a:t>77.5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1938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6,523 cases · 84% junction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263140"/>
            <a:ext cx="11338560" cy="356616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22997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3D4A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2997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MG Road Central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22997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Shivajinagar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2997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09:00–12:00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29971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3D4A"/>
                </a:solidFill>
              </a:rPr>
              <a:t>77.0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22997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5,792 cases · 100% junction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24328"/>
            <a:ext cx="11338560" cy="356616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6609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3D4A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26609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Commercial Street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2660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Shivajinagar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2660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10:00–13:00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26609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3D4A"/>
                </a:solidFill>
              </a:rPr>
              <a:t>74.5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26609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4,810 cases · 76% junction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985516"/>
            <a:ext cx="11338560" cy="356616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0220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30220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Jayanagar 4th Block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30220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Jayanagar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0220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08:00–11:00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302209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68.2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4232" y="30220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3,941 cases · 65% junction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346704"/>
            <a:ext cx="11338560" cy="356616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Koramangala IRR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Koramangala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08:00–11:00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33832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65.8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232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3,654 cases · 59% junction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707891"/>
            <a:ext cx="11338560" cy="356616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37444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37444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Whitefield IT Entry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0832" y="37444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KR Puram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37444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08:00–10:00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7444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61.4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14232" y="37444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2,870 cases · 55% arterial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069080"/>
            <a:ext cx="11338560" cy="356616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4105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" y="41056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Upparpet Junction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4105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Upparpet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82512" y="41056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17:00–20:00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6992" y="41056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9B2D"/>
                </a:solidFill>
              </a:rPr>
              <a:t>60.8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14232" y="41056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2,645 cases · 71% peak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430268"/>
            <a:ext cx="11338560" cy="356616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" y="44668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" y="44668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Indiranagar 100ft Road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0832" y="44668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Indiranagar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82512" y="44668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17:00–20:00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36992" y="44668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59.3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14232" y="44668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2,410 cases · 68% peak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791456"/>
            <a:ext cx="11338560" cy="356616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48280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Rajajinagar Market Zone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0832" y="4828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Rajajinagar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82512" y="48280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09:00–12:00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6992" y="48280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57.9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14232" y="4828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2,150 cases · 62% junction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152644"/>
            <a:ext cx="11338560" cy="356616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" y="51892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" y="51892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Yeshwanthpur Circle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70832" y="51892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Yeshwanthpur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82512" y="51892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08:00–10:00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36992" y="51892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56.2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14232" y="51892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1,980 cases · 58% arterial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5513832"/>
            <a:ext cx="11338560" cy="356616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" y="55504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8992" y="55504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BTM Layout Signals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70832" y="5550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BTM Layout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82512" y="5550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18:00–21:00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36992" y="5550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54.7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14232" y="5550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1,820 cases · 67% peak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5875020"/>
            <a:ext cx="11338560" cy="356616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" y="59115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8992" y="59115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HSR Layout Sector 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70832" y="59115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BTM Layout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2512" y="59115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18:00–21:00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36992" y="59115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8E"/>
                </a:solidFill>
              </a:rPr>
              <a:t>52.1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14232" y="59115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CFD8"/>
                </a:solidFill>
              </a:rPr>
              <a:t>1,650 cases · 55% peak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6217920"/>
            <a:ext cx="11338560" cy="548640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7240" y="62544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157A8"/>
                </a:solidFill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002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Patrol beats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66160" y="62544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3D4A"/>
                </a:solidFill>
              </a:rPr>
              <a:t>34%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Violation coverage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55079" y="62544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B2D"/>
                </a:solidFill>
              </a:rPr>
              <a:t>36%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7804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PCU obstruction coverage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43999" y="62544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8E"/>
                </a:solidFill>
              </a:rP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Police stations spanned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9B2D"/>
                </a:solidFill>
              </a:rPr>
              <a:t>DATA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298,450 Violations Tell Us About Bengaluru's Traffic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486400" cy="29260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486400" cy="54864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Violation Rhythm — Hour of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3555999"/>
            <a:ext cx="198882" cy="19304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2114" y="3411219"/>
            <a:ext cx="198882" cy="33782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9284" y="3073399"/>
            <a:ext cx="198882" cy="67564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46454" y="2735579"/>
            <a:ext cx="198882" cy="101346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63624" y="2518410"/>
            <a:ext cx="198882" cy="123063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0794" y="2590799"/>
            <a:ext cx="198882" cy="115824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97963" y="2735579"/>
            <a:ext cx="198882" cy="101346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15134" y="2880359"/>
            <a:ext cx="198882" cy="86868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32304" y="3025140"/>
            <a:ext cx="198882" cy="7239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49474" y="3169919"/>
            <a:ext cx="198882" cy="57912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66644" y="3218179"/>
            <a:ext cx="198882" cy="53086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3814" y="3121660"/>
            <a:ext cx="198882" cy="62738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00984" y="3001009"/>
            <a:ext cx="198882" cy="74803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8154" y="2880359"/>
            <a:ext cx="198882" cy="86868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5324" y="2807969"/>
            <a:ext cx="198882" cy="941069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52494" y="2759709"/>
            <a:ext cx="198882" cy="989329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9664" y="2494279"/>
            <a:ext cx="198882" cy="125476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6834" y="2277109"/>
            <a:ext cx="198882" cy="147193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04004" y="2011679"/>
            <a:ext cx="198882" cy="173736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21174" y="2108200"/>
            <a:ext cx="198882" cy="164084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38344" y="2421889"/>
            <a:ext cx="198882" cy="132715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55514" y="2807969"/>
            <a:ext cx="198882" cy="941069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72684" y="3218179"/>
            <a:ext cx="198882" cy="53086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89854" y="3483609"/>
            <a:ext cx="198882" cy="26543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673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FD8"/>
                </a:solidFill>
              </a:rPr>
              <a:t>12A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3100" y="37673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FD8"/>
                </a:solidFill>
              </a:rPr>
              <a:t>6A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4610" y="37673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FD8"/>
                </a:solidFill>
              </a:rPr>
              <a:t>9A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7673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FD8"/>
                </a:solidFill>
              </a:rPr>
              <a:t>12P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1970" y="37673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FD8"/>
                </a:solidFill>
              </a:rPr>
              <a:t>5P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00650" y="37673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FD8"/>
                </a:solidFill>
              </a:rPr>
              <a:t>9P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34990" y="37673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FD8"/>
                </a:solidFill>
              </a:rPr>
              <a:t>11P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297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3D4A"/>
                </a:solidFill>
              </a:rPr>
              <a:t>Peak windows: 8–11 AM and 5–9 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508760"/>
            <a:ext cx="5577840" cy="29260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1508760"/>
            <a:ext cx="5577840" cy="54864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 Violation Types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2029968"/>
            <a:ext cx="2189073" cy="50292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35593" y="2029968"/>
            <a:ext cx="938174" cy="50292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73767" y="2029968"/>
            <a:ext cx="625449" cy="50292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99217" y="2029968"/>
            <a:ext cx="469087" cy="50292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668304" y="2029968"/>
            <a:ext cx="416966" cy="502920"/>
          </a:xfrm>
          <a:prstGeom prst="rect">
            <a:avLst/>
          </a:prstGeom>
          <a:solidFill>
            <a:srgbClr val="56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085271" y="2029968"/>
            <a:ext cx="364845" cy="502920"/>
          </a:xfrm>
          <a:prstGeom prst="rect">
            <a:avLst/>
          </a:prstGeom>
          <a:solidFill>
            <a:srgbClr val="C9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50116" y="2029968"/>
            <a:ext cx="208483" cy="502920"/>
          </a:xfrm>
          <a:prstGeom prst="rect">
            <a:avLst/>
          </a:prstGeom>
          <a:solidFill>
            <a:srgbClr val="C4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46520" y="2770632"/>
            <a:ext cx="109728" cy="109728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11112" y="2697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Wrong Parking  42%</a:t>
            </a:r>
          </a:p>
        </p:txBody>
      </p:sp>
      <p:sp>
        <p:nvSpPr>
          <p:cNvPr id="55" name="Oval 54"/>
          <p:cNvSpPr/>
          <p:nvPr/>
        </p:nvSpPr>
        <p:spPr>
          <a:xfrm>
            <a:off x="9144000" y="2770632"/>
            <a:ext cx="109728" cy="109728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08592" y="2697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No Parking Zone  18%</a:t>
            </a:r>
          </a:p>
        </p:txBody>
      </p:sp>
      <p:sp>
        <p:nvSpPr>
          <p:cNvPr id="57" name="Oval 56"/>
          <p:cNvSpPr/>
          <p:nvPr/>
        </p:nvSpPr>
        <p:spPr>
          <a:xfrm>
            <a:off x="6446520" y="3154680"/>
            <a:ext cx="109728" cy="109728"/>
          </a:xfrm>
          <a:prstGeom prst="ellipse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11112" y="30815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Parking Near Road Crossing  12%</a:t>
            </a:r>
          </a:p>
        </p:txBody>
      </p:sp>
      <p:sp>
        <p:nvSpPr>
          <p:cNvPr id="59" name="Oval 58"/>
          <p:cNvSpPr/>
          <p:nvPr/>
        </p:nvSpPr>
        <p:spPr>
          <a:xfrm>
            <a:off x="9144000" y="3154680"/>
            <a:ext cx="109728" cy="109728"/>
          </a:xfrm>
          <a:prstGeom prst="ellipse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08592" y="30815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Double Parking  9%</a:t>
            </a:r>
          </a:p>
        </p:txBody>
      </p:sp>
      <p:sp>
        <p:nvSpPr>
          <p:cNvPr id="61" name="Oval 60"/>
          <p:cNvSpPr/>
          <p:nvPr/>
        </p:nvSpPr>
        <p:spPr>
          <a:xfrm>
            <a:off x="6446520" y="3538728"/>
            <a:ext cx="109728" cy="109728"/>
          </a:xfrm>
          <a:prstGeom prst="ellipse">
            <a:avLst/>
          </a:prstGeom>
          <a:solidFill>
            <a:srgbClr val="56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11112" y="34655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Near Traffic Light/Zebra  8%</a:t>
            </a:r>
          </a:p>
        </p:txBody>
      </p:sp>
      <p:sp>
        <p:nvSpPr>
          <p:cNvPr id="63" name="Oval 62"/>
          <p:cNvSpPr/>
          <p:nvPr/>
        </p:nvSpPr>
        <p:spPr>
          <a:xfrm>
            <a:off x="9144000" y="3538728"/>
            <a:ext cx="109728" cy="109728"/>
          </a:xfrm>
          <a:prstGeom prst="ellipse">
            <a:avLst/>
          </a:prstGeom>
          <a:solidFill>
            <a:srgbClr val="C9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08592" y="34655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Parking on Footpath  7%</a:t>
            </a:r>
          </a:p>
        </p:txBody>
      </p:sp>
      <p:sp>
        <p:nvSpPr>
          <p:cNvPr id="65" name="Oval 64"/>
          <p:cNvSpPr/>
          <p:nvPr/>
        </p:nvSpPr>
        <p:spPr>
          <a:xfrm>
            <a:off x="6446520" y="3922776"/>
            <a:ext cx="109728" cy="109728"/>
          </a:xfrm>
          <a:prstGeom prst="ellipse">
            <a:avLst/>
          </a:prstGeom>
          <a:solidFill>
            <a:srgbClr val="C4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11112" y="384962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Other violations  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572000"/>
            <a:ext cx="11338560" cy="210312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" y="4572000"/>
            <a:ext cx="11338560" cy="54864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4645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 8 Police Stations by Burden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0" y="5074920"/>
            <a:ext cx="6400800" cy="14173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506577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Upparpet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84280" y="50749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3D4A"/>
                </a:solidFill>
              </a:rPr>
              <a:t>28,000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7760" y="5257800"/>
            <a:ext cx="5829300" cy="14173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" y="524865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Shivajinagar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12780" y="5257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3D4A"/>
                </a:solidFill>
              </a:rPr>
              <a:t>25,500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37760" y="5440680"/>
            <a:ext cx="4800600" cy="14173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3232" y="543153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Koramangala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84080" y="5440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9B2D"/>
                </a:solidFill>
              </a:rPr>
              <a:t>21,000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5623560"/>
            <a:ext cx="4229100" cy="141732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" y="561441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Jayanagar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12580" y="5623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9B2D"/>
                </a:solidFill>
              </a:rPr>
              <a:t>18,500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37760" y="5806440"/>
            <a:ext cx="3931920" cy="141732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2" y="57972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Indiranagar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15400" y="5806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8E"/>
                </a:solidFill>
              </a:rPr>
              <a:t>17,200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37760" y="5989320"/>
            <a:ext cx="3634740" cy="141732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598017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BTM Layout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18220" y="5989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8E"/>
                </a:solidFill>
              </a:rPr>
              <a:t>15,900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37760" y="6172200"/>
            <a:ext cx="3337560" cy="141732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3232" y="616305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Rajajinagar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21040" y="6172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57A8"/>
                </a:solidFill>
              </a:rPr>
              <a:t>14,600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60" y="6355080"/>
            <a:ext cx="3017520" cy="141732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3232" y="634593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0F4F8"/>
                </a:solidFill>
              </a:rPr>
              <a:t>KR Puram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6355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57A8"/>
                </a:solidFill>
              </a:rPr>
              <a:t>13,200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Upparpet police station carries the highest burden — 28,000+ cases in 5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8E"/>
                </a:solidFill>
              </a:rPr>
              <a:t>KEY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ParkSight AI Delivers — By the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57600" cy="2148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657600" cy="59436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93D4A"/>
                </a:solidFill>
              </a:rPr>
              <a:t>298,450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96896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Violations
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5 months of Bengaluru
traffic police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7" y="1554480"/>
            <a:ext cx="3657600" cy="2148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1554480"/>
            <a:ext cx="3657600" cy="59436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5" y="1755648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5968E"/>
                </a:solidFill>
              </a:rPr>
              <a:t>3,969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5" y="2596896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Urban Micro-
Zones Scored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5" y="312724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Every 220m cell in
the metro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5" y="3931920"/>
            <a:ext cx="3657600" cy="2148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3931920"/>
            <a:ext cx="3657600" cy="59436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4133087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09B2D"/>
                </a:solidFill>
              </a:rPr>
              <a:t>160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4974336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Ranked
Hotspots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550468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Full evidence card
for each zone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657600" cy="2148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3657600" cy="59436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33087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6157A8"/>
                </a:solidFill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74336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Deployable
Enforcement Beats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50468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With time windows
and 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7" y="6309360"/>
            <a:ext cx="3657600" cy="2148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7" y="6309360"/>
            <a:ext cx="3657600" cy="59436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8575" y="6510528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93D4A"/>
                </a:solidFill>
              </a:rPr>
              <a:t>34%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5" y="7351776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Violation
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5" y="78821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With just 12 beats
across the 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5" y="6309360"/>
            <a:ext cx="3657600" cy="2148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5" y="6309360"/>
            <a:ext cx="3657600" cy="59436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6510528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5968E"/>
                </a:solidFill>
              </a:rPr>
              <a:t>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7351776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Police Stations
Analysed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78821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Ranked by burden
and junction share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12 patrol beats × 3h window = 36 officer-hours → covers 34% of all violation burden in the 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8E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100% Open-Source, Production-Grade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577840" cy="21762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577840" cy="59436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007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9B2D"/>
                </a:solidFill>
              </a:rPr>
              <a:t>Data 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3969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9B2D"/>
                </a:solidFill>
              </a:rPr>
              <a:t>Python 3.11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176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Core ETL pipeline — parses 298K rows, computes all scores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642615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67919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9B2D"/>
                </a:solidFill>
              </a:rPr>
              <a:t>CSV→JSON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67919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Generates parking_intelligence.json — the single source of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14553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821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9B2D"/>
                </a:solidFill>
              </a:rPr>
              <a:t>Custom 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182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PCU weighting, severity scoring, recurrence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1554480"/>
            <a:ext cx="5577840" cy="21762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554480"/>
            <a:ext cx="5577840" cy="59436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007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756F"/>
                </a:solidFill>
              </a:rPr>
              <a:t>Frontend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13969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756F"/>
                </a:solidFill>
              </a:rPr>
              <a:t>React 18 + 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176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Instant hot-reload dev server, optimized production bundle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642615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7919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756F"/>
                </a:solidFill>
              </a:rPr>
              <a:t>Leaflet.js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67919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Open-source interactive map with fly-to and bounds fitting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14553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1821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756F"/>
                </a:solidFill>
              </a:rPr>
              <a:t>Leaflet.heat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3182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GPU-accelerated heatmap overlay for 2,500+ data points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64845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6850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756F"/>
                </a:solidFill>
              </a:rPr>
              <a:t>Chart.js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3685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Line, bar and doughnut charts for violation rhythm &amp; burden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886200"/>
            <a:ext cx="5577840" cy="21762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3886200"/>
            <a:ext cx="5577840" cy="59436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0325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157A8"/>
                </a:solidFill>
              </a:rPr>
              <a:t>Styling &amp; UX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47141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5079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157A8"/>
                </a:solidFill>
              </a:rPr>
              <a:t>Tailwind CSS v4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4507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Utility-first styling, responsive grid, dark glassmorphism theme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497433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0109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157A8"/>
                </a:solidFill>
              </a:rPr>
              <a:t>Lucide Icons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95728" y="5010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Consistent icon system across all UI states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547725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5138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157A8"/>
                </a:solidFill>
              </a:rPr>
              <a:t>Custom CSS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5728" y="55138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Glass panel effects, depth stages, lift shadows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3886200"/>
            <a:ext cx="5577840" cy="2176272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27648" y="3886200"/>
            <a:ext cx="5577840" cy="59436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0325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3D4A"/>
                </a:solidFill>
              </a:rPr>
              <a:t>Output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47141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5079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3D4A"/>
                </a:solidFill>
              </a:rPr>
              <a:t>jsPDF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74736" y="4507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Client-side PDF brief generation — no server required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97433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50109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3D4A"/>
                </a:solidFill>
              </a:rPr>
              <a:t>CSV Export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74736" y="5010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Full hotspot dataset download for offline analysis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477256"/>
            <a:ext cx="1554480" cy="347472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55138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3D4A"/>
                </a:solidFill>
              </a:rPr>
              <a:t>Vite Build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55138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Optimised static bundle deployable to any static host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Zero paid services · Zero API keys · Runs entirely in the browser after initial data 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3D4A"/>
                </a:solidFill>
              </a:rPr>
              <a:t>COMPETITIVE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ParkSight AI Stands Apart from Simple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577840" cy="151790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9436" cy="1517904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19072"/>
            <a:ext cx="502920" cy="50292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82495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691639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Actionable, Not Just Analytical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084831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Most dashboards show WHERE violations happen. ParkSight AI answers WHAT TO DO: which beat to patrol, at what time, with what action, and why — in 12 ready-to-deploy cards.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1554480"/>
            <a:ext cx="5577840" cy="151790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554480"/>
            <a:ext cx="59436" cy="1517904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28816" y="1719072"/>
            <a:ext cx="502920" cy="50292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682495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1691639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Transparent, Auditable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084831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The Parking Impact Index formula is printed on the dashboard itself. Every weight, every threshold is visible. No black-box ML — any officer or judge can audit the ranking.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18688"/>
            <a:ext cx="5577840" cy="151790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18688"/>
            <a:ext cx="59436" cy="1517904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3383280"/>
            <a:ext cx="502920" cy="50292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34670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3558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Physics-Based, Not Count-Based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7490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Unlike simple violation counters, ParkSight uses Passenger Car Unit (PCU) weights borrowed from traffic engineering — a tanker blocking a junction scores 3.2× a moped.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3218688"/>
            <a:ext cx="5577840" cy="151790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7648" y="3218688"/>
            <a:ext cx="59436" cy="1517904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28816" y="3383280"/>
            <a:ext cx="502920" cy="50292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4670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33558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Multi-Dimensional Ranking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37490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7 independent signals (obstruction pressure, density, junction exposure, arterial risk, peak share, recurrence, severity) prevent any single outlier from hijacking the ranking.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82896"/>
            <a:ext cx="5577840" cy="151790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82896"/>
            <a:ext cx="59436" cy="1517904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5047488"/>
            <a:ext cx="502920" cy="502920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0109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50200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Zero Infrastructure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88" y="541324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The entire system runs in a browser tab. No servers, no cloud subscription, no API keys. A field officer with a laptop can generate the enforcement plan offline.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4882896"/>
            <a:ext cx="5577840" cy="1517904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7648" y="4882896"/>
            <a:ext cx="59436" cy="1517904"/>
          </a:xfrm>
          <a:prstGeom prst="rect">
            <a:avLst/>
          </a:prstGeom>
          <a:solidFill>
            <a:srgbClr val="C9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28816" y="5047488"/>
            <a:ext cx="502920" cy="502920"/>
          </a:xfrm>
          <a:prstGeom prst="rect">
            <a:avLst/>
          </a:prstGeom>
          <a:solidFill>
            <a:srgbClr val="C9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50109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8896" y="50200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Production-Ready 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896" y="541324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One-click PDF brief and CSV download mean the insights survive the demo. Command officers get a brief; data teams get the full dataset; field teams get beat cards.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ParkSight AI = Traffic Engineering + Data Science + Software Engineering in one open-source package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157A8"/>
                </a:solidFill>
              </a:rP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ParkSight AI v2 — What Comes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338560" cy="2286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97480" cy="46634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97480" cy="59436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6093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756F"/>
                </a:solidFill>
              </a:rPr>
              <a:t>Phase 1
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1031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Core Platform (Complete)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651760"/>
            <a:ext cx="2423160" cy="2286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944" y="2834640"/>
            <a:ext cx="91440" cy="91440"/>
          </a:xfrm>
          <a:prstGeom prst="ellipse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298K-record pipeline &amp; scoring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3291840"/>
            <a:ext cx="91440" cy="91440"/>
          </a:xfrm>
          <a:prstGeom prst="ellipse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160-hotspot ranked dashboard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" y="3749039"/>
            <a:ext cx="91440" cy="91440"/>
          </a:xfrm>
          <a:prstGeom prst="ellipse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657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12-beat enforcement plan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" y="4206240"/>
            <a:ext cx="91440" cy="91440"/>
          </a:xfrm>
          <a:prstGeom prst="ellipse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114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CSV &amp; PDF report export</a:t>
            </a:r>
          </a:p>
        </p:txBody>
      </p:sp>
      <p:sp>
        <p:nvSpPr>
          <p:cNvPr id="21" name="Oval 20"/>
          <p:cNvSpPr/>
          <p:nvPr/>
        </p:nvSpPr>
        <p:spPr>
          <a:xfrm>
            <a:off x="694944" y="4663440"/>
            <a:ext cx="91440" cy="91440"/>
          </a:xfrm>
          <a:prstGeom prst="ellipse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572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3-layer Leaflet heatmap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38144" y="1554480"/>
            <a:ext cx="2697480" cy="46634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38144" y="1554480"/>
            <a:ext cx="2697480" cy="59436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16093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9B2D"/>
                </a:solidFill>
              </a:rPr>
              <a:t>Phase 2
3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1031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Real-Time Intelligence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651760"/>
            <a:ext cx="2423160" cy="22860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84448" y="2834640"/>
            <a:ext cx="91440" cy="91440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Live police challan API integration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3584448" y="3291840"/>
            <a:ext cx="91440" cy="91440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Daily automated score refresh</a:t>
            </a:r>
          </a:p>
        </p:txBody>
      </p:sp>
      <p:sp>
        <p:nvSpPr>
          <p:cNvPr id="32" name="Oval 31"/>
          <p:cNvSpPr/>
          <p:nvPr/>
        </p:nvSpPr>
        <p:spPr>
          <a:xfrm>
            <a:off x="3584448" y="3749039"/>
            <a:ext cx="91440" cy="91440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7328" y="3657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Mobile-responsive PWA for field</a:t>
            </a:r>
          </a:p>
        </p:txBody>
      </p:sp>
      <p:sp>
        <p:nvSpPr>
          <p:cNvPr id="34" name="Oval 33"/>
          <p:cNvSpPr/>
          <p:nvPr/>
        </p:nvSpPr>
        <p:spPr>
          <a:xfrm>
            <a:off x="3584448" y="4206240"/>
            <a:ext cx="91440" cy="91440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67328" y="4114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Push alerts for emerging hotspots</a:t>
            </a:r>
          </a:p>
        </p:txBody>
      </p:sp>
      <p:sp>
        <p:nvSpPr>
          <p:cNvPr id="36" name="Oval 35"/>
          <p:cNvSpPr/>
          <p:nvPr/>
        </p:nvSpPr>
        <p:spPr>
          <a:xfrm>
            <a:off x="3584448" y="4663440"/>
            <a:ext cx="91440" cy="91440"/>
          </a:xfrm>
          <a:prstGeom prst="ellipse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67328" y="4572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Week-over-week trend charts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1554480"/>
            <a:ext cx="2697480" cy="46634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7648" y="1554480"/>
            <a:ext cx="2697480" cy="59436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16093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3D4A"/>
                </a:solidFill>
              </a:rPr>
              <a:t>Phase 3
6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1031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&amp; Computer Vision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55664" y="2651760"/>
            <a:ext cx="2423160" cy="22860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73952" y="2834640"/>
            <a:ext cx="91440" cy="91440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CCTV feed analysis for parked vehicles</a:t>
            </a:r>
          </a:p>
        </p:txBody>
      </p:sp>
      <p:sp>
        <p:nvSpPr>
          <p:cNvPr id="45" name="Oval 44"/>
          <p:cNvSpPr/>
          <p:nvPr/>
        </p:nvSpPr>
        <p:spPr>
          <a:xfrm>
            <a:off x="6473952" y="3291840"/>
            <a:ext cx="91440" cy="91440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Number plate detection &amp; cross-ref</a:t>
            </a:r>
          </a:p>
        </p:txBody>
      </p:sp>
      <p:sp>
        <p:nvSpPr>
          <p:cNvPr id="47" name="Oval 46"/>
          <p:cNvSpPr/>
          <p:nvPr/>
        </p:nvSpPr>
        <p:spPr>
          <a:xfrm>
            <a:off x="6473952" y="3749039"/>
            <a:ext cx="91440" cy="91440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3657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Predictive model: forecast next hotspot</a:t>
            </a:r>
          </a:p>
        </p:txBody>
      </p:sp>
      <p:sp>
        <p:nvSpPr>
          <p:cNvPr id="49" name="Oval 48"/>
          <p:cNvSpPr/>
          <p:nvPr/>
        </p:nvSpPr>
        <p:spPr>
          <a:xfrm>
            <a:off x="6473952" y="4206240"/>
            <a:ext cx="91440" cy="91440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4114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Weather &amp; event-aware enforcement</a:t>
            </a:r>
          </a:p>
        </p:txBody>
      </p:sp>
      <p:sp>
        <p:nvSpPr>
          <p:cNvPr id="51" name="Oval 50"/>
          <p:cNvSpPr/>
          <p:nvPr/>
        </p:nvSpPr>
        <p:spPr>
          <a:xfrm>
            <a:off x="6473952" y="4663440"/>
            <a:ext cx="91440" cy="91440"/>
          </a:xfrm>
          <a:prstGeom prst="ellipse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572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Multi-city template (Mumbai, Delhi)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17152" y="1554480"/>
            <a:ext cx="2697480" cy="46634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17152" y="1554480"/>
            <a:ext cx="2697480" cy="59436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45168" y="16093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157A8"/>
                </a:solidFill>
              </a:rPr>
              <a:t>Phase 4
12 Months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45168" y="21031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Smart City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45168" y="2651760"/>
            <a:ext cx="2423160" cy="22860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363456" y="2834640"/>
            <a:ext cx="91440" cy="91440"/>
          </a:xfrm>
          <a:prstGeom prst="ellipse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46336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SCITA &amp; TMS data feed integration</a:t>
            </a:r>
          </a:p>
        </p:txBody>
      </p:sp>
      <p:sp>
        <p:nvSpPr>
          <p:cNvPr id="60" name="Oval 59"/>
          <p:cNvSpPr/>
          <p:nvPr/>
        </p:nvSpPr>
        <p:spPr>
          <a:xfrm>
            <a:off x="9363456" y="3291840"/>
            <a:ext cx="91440" cy="91440"/>
          </a:xfrm>
          <a:prstGeom prst="ellipse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46336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Dynamic signal timing coordination</a:t>
            </a:r>
          </a:p>
        </p:txBody>
      </p:sp>
      <p:sp>
        <p:nvSpPr>
          <p:cNvPr id="62" name="Oval 61"/>
          <p:cNvSpPr/>
          <p:nvPr/>
        </p:nvSpPr>
        <p:spPr>
          <a:xfrm>
            <a:off x="9363456" y="3749039"/>
            <a:ext cx="91440" cy="91440"/>
          </a:xfrm>
          <a:prstGeom prst="ellipse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46336" y="3657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Tow-truck dispatch automation</a:t>
            </a:r>
          </a:p>
        </p:txBody>
      </p:sp>
      <p:sp>
        <p:nvSpPr>
          <p:cNvPr id="64" name="Oval 63"/>
          <p:cNvSpPr/>
          <p:nvPr/>
        </p:nvSpPr>
        <p:spPr>
          <a:xfrm>
            <a:off x="9363456" y="4206240"/>
            <a:ext cx="91440" cy="91440"/>
          </a:xfrm>
          <a:prstGeom prst="ellipse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46336" y="4114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Public-facing parking guidance app</a:t>
            </a:r>
          </a:p>
        </p:txBody>
      </p:sp>
      <p:sp>
        <p:nvSpPr>
          <p:cNvPr id="66" name="Oval 65"/>
          <p:cNvSpPr/>
          <p:nvPr/>
        </p:nvSpPr>
        <p:spPr>
          <a:xfrm>
            <a:off x="9363456" y="4663440"/>
            <a:ext cx="91440" cy="91440"/>
          </a:xfrm>
          <a:prstGeom prst="ellipse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46336" y="4572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Congestion savings measurement 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73552" y="3657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CFD8"/>
                </a:solidFill>
              </a:rP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63056" y="3657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CFD8"/>
                </a:solidFill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3657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CFD8"/>
                </a:solidFill>
              </a:rPr>
              <a:t>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v1 is live today — Phases 2–4 build on the same scoring engine without architectural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57200"/>
            <a:ext cx="4206240" cy="292608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484632"/>
            <a:ext cx="4059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FLIPKART GRIDLOCK CHALLENGE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5968E"/>
                </a:solidFill>
              </a:rPr>
              <a:t>from Team ParkSight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4389120" cy="2286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FD8"/>
                </a:solidFill>
              </a:rPr>
              <a:t>We built ParkSight AI to answer a simple question:
Where should enforcement go TODAY — before the
jam forms? We believe this is the foundation of
a smarter, safer Bengaluru.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2103120" cy="1005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708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93D4A"/>
                </a:solidFill>
              </a:rPr>
              <a:t>298K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Violations Analysed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297680"/>
            <a:ext cx="2103120" cy="1005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3708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9B2D"/>
                </a:solidFill>
              </a:rPr>
              <a:t>160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Hotspots Ranked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2103120" cy="1005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138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968E"/>
                </a:solidFill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07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Beats Generated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5440680"/>
            <a:ext cx="2103120" cy="100584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55138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157A8"/>
                </a:solidFill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6007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FD8"/>
                </a:solidFill>
              </a:rPr>
              <a:t>Open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5943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ParkSight AI — By the Numbers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115568"/>
            <a:ext cx="6126480" cy="22860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1298448"/>
            <a:ext cx="6126480" cy="56692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1298448"/>
            <a:ext cx="50292" cy="566928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1371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3D4A"/>
                </a:solidFill>
              </a:rPr>
              <a:t>298,450 violations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13898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processed and scored — the complete Bengaluru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938528"/>
            <a:ext cx="6126480" cy="56692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1938528"/>
            <a:ext cx="50292" cy="566928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20116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9B2D"/>
                </a:solidFill>
              </a:rPr>
              <a:t>3,969 urban cells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0299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every micro-zone in the metro ranked 0–100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578608"/>
            <a:ext cx="6126480" cy="56692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0" y="2578608"/>
            <a:ext cx="50292" cy="566928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2651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8E"/>
                </a:solidFill>
              </a:rPr>
              <a:t>7-factor formula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6700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transparent, auditable Parking Impact Index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218687"/>
            <a:ext cx="6126480" cy="56692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3218687"/>
            <a:ext cx="50292" cy="566928"/>
          </a:xfrm>
          <a:prstGeom prst="rect">
            <a:avLst/>
          </a:prstGeom>
          <a:solidFill>
            <a:srgbClr val="61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329183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157A8"/>
                </a:solidFill>
              </a:rPr>
              <a:t>12 patrol beats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331012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time-windowed, action-tagged, map-linked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858768"/>
            <a:ext cx="6126480" cy="56692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3858768"/>
            <a:ext cx="50292" cy="566928"/>
          </a:xfrm>
          <a:prstGeom prst="rect">
            <a:avLst/>
          </a:prstGeom>
          <a:solidFill>
            <a:srgbClr val="D9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80" y="3931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3D4A"/>
                </a:solidFill>
              </a:rPr>
              <a:t>3 heatmap layers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395020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Impact · Volume · Junction — switch live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4498848"/>
            <a:ext cx="6126480" cy="56692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4498848"/>
            <a:ext cx="50292" cy="566928"/>
          </a:xfrm>
          <a:prstGeom prst="rect">
            <a:avLst/>
          </a:prstGeom>
          <a:solidFill>
            <a:srgbClr val="04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97880" y="4572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756F"/>
                </a:solidFill>
              </a:rPr>
              <a:t>55 stations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45902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ranked leaderboard with burden &amp; risk scores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5138927"/>
            <a:ext cx="6126480" cy="566928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5138927"/>
            <a:ext cx="50292" cy="566928"/>
          </a:xfrm>
          <a:prstGeom prst="rect">
            <a:avLst/>
          </a:prstGeom>
          <a:solidFill>
            <a:srgbClr val="E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7880" y="521207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9B2D"/>
                </a:solidFill>
              </a:rPr>
              <a:t>1-click reports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523036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PDF brief + CSV download, no server needed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5779007"/>
            <a:ext cx="6126480" cy="566928"/>
          </a:xfrm>
          <a:prstGeom prst="rect">
            <a:avLst/>
          </a:prstGeom>
          <a:solidFill>
            <a:srgbClr val="21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60720" y="5779007"/>
            <a:ext cx="50292" cy="566928"/>
          </a:xfrm>
          <a:prstGeom prst="rect">
            <a:avLst/>
          </a:prstGeom>
          <a:solidFill>
            <a:srgbClr val="C4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97880" y="585215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CFD8"/>
                </a:solidFill>
              </a:rPr>
              <a:t>0 paid services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587044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FD8"/>
                </a:solidFill>
              </a:rPr>
              <a:t>entirely open-source, runs in any browser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63550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4CFD8"/>
                </a:solidFill>
              </a:rPr>
              <a:t>Parking Impact Index v1.0  ·  Bengaluru, India  ·  Flipkart Gridlock Challenge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